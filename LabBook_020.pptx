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89" r:id="rId3"/>
    <p:sldId id="290" r:id="rId4"/>
    <p:sldId id="296" r:id="rId5"/>
    <p:sldId id="293" r:id="rId6"/>
    <p:sldId id="297" r:id="rId7"/>
    <p:sldId id="288" r:id="rId8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B70BE-D945-421A-8843-7BFE17E8B716}" v="1" dt="2026-02-03T12:25:46.7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84" autoAdjust="0"/>
    <p:restoredTop sz="95033" autoAdjust="0"/>
  </p:normalViewPr>
  <p:slideViewPr>
    <p:cSldViewPr>
      <p:cViewPr varScale="1">
        <p:scale>
          <a:sx n="46" d="100"/>
          <a:sy n="46" d="100"/>
        </p:scale>
        <p:origin x="54" y="14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26:13.728" v="13" actId="20577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26:13.728" v="13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26:13.728" v="13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24:53.171" v="0" actId="47"/>
        <pc:sldMkLst>
          <pc:docMk/>
          <pc:sldMk cId="3712356003" sldId="291"/>
        </pc:sldMkLst>
      </pc:sldChg>
      <pc:sldChg chg="modSp mod">
        <pc:chgData name="Christian Camilo Cano Vasquez" userId="8c73a2a4-758b-4e34-81ed-39462e48bd92" providerId="ADAL" clId="{E6287060-0277-4BCC-9556-78F4A9113EC4}" dt="2026-02-03T12:25:25.147" v="3" actId="115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03T12:25:25.147" v="3" actId="115"/>
          <ac:spMkLst>
            <pc:docMk/>
            <pc:sldMk cId="3660438245" sldId="293"/>
            <ac:spMk id="4" creationId="{D838A93A-BFC8-0124-93CE-FDC193435A0C}"/>
          </ac:spMkLst>
        </pc:spChg>
        <pc:spChg chg="mod">
          <ac:chgData name="Christian Camilo Cano Vasquez" userId="8c73a2a4-758b-4e34-81ed-39462e48bd92" providerId="ADAL" clId="{E6287060-0277-4BCC-9556-78F4A9113EC4}" dt="2026-02-03T12:25:18.697" v="1" actId="20577"/>
          <ac:spMkLst>
            <pc:docMk/>
            <pc:sldMk cId="3660438245" sldId="293"/>
            <ac:spMk id="16" creationId="{742C31CE-19F0-B995-0997-9A2D6A879B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D658-1FE6-DCEF-58BF-A021BE2A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523012C-9C0B-76FB-DF54-C863CE3B7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B4991A-515A-E548-6334-7136C6273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0E62ED-AAE9-DA2E-75EA-F3CF5E20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978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BA74-63CB-F526-C07E-AA2F80BC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8767D1-1CF1-95AF-0077-118E061A3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FA29DC-C2DF-4643-CF0B-C3396D33C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1DBA3C-5C82-3D80-FE9E-EFE0EDAC4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977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4.sv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0.2.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020_COUPLERS_Student.ipynb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5776" y="10668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Present Python and </a:t>
                </a:r>
                <a:r>
                  <a:rPr lang="en-US" dirty="0" err="1"/>
                  <a:t>GDSFactory</a:t>
                </a:r>
                <a:r>
                  <a:rPr lang="en-US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b="1" dirty="0"/>
                  <a:t>ALL EXAMPLE #1: </a:t>
                </a:r>
                <a:r>
                  <a:rPr lang="en-US" dirty="0"/>
                  <a:t>waveguide width 1.2 µm, gap between waveguides 0.6 µm, deep </a:t>
                </a:r>
                <a:r>
                  <a:rPr lang="en-US" dirty="0" err="1"/>
                  <a:t>wvg</a:t>
                </a:r>
                <a:r>
                  <a:rPr lang="en-US" dirty="0"/>
                  <a:t>, wavelength start and end same 1.55 µm </a:t>
                </a:r>
                <a:r>
                  <a:rPr lang="en-US" dirty="0">
                    <a:sym typeface="Wingdings" pitchFamily="2" charset="2"/>
                  </a:rPr>
                  <a:t> all ”Run”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b="1" dirty="0"/>
                  <a:t>ALL: </a:t>
                </a:r>
                <a:r>
                  <a:rPr lang="en-US" dirty="0"/>
                  <a:t>Follow</a:t>
                </a:r>
                <a:r>
                  <a:rPr lang="en-US" b="1" dirty="0"/>
                  <a:t> </a:t>
                </a:r>
                <a:r>
                  <a:rPr lang="en-US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76" y="10668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441" t="-615" r="-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600" y="3194009"/>
            <a:ext cx="11199971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of different modes, comparison between different polarizations…)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direccional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 ha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diseñado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transversal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compuesta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micras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300 nm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separadas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gap de 600 nm,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utilizando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gt.modes.WaveguideCoupler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”.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solucionar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cuatro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obtienen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50" indent="-171450" algn="just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 0: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=1.609,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</a:t>
            </a:r>
          </a:p>
          <a:p>
            <a:pPr marL="171450" indent="-171450" algn="just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 1: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=1.6011,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</a:t>
            </a:r>
          </a:p>
          <a:p>
            <a:pPr marL="171450" indent="-171450" algn="just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 2: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=1.535,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</a:t>
            </a:r>
          </a:p>
          <a:p>
            <a:pPr marL="171450" indent="-171450" algn="just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 3: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=1.520,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tanto,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cuatro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mayor al del cladding. Sim embargo,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estarán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mayor,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previsiblemente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provocará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batido mayor.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transversal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0 y 2 son pares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1 y 3 son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impares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respectivas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encuentran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diapositiva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batido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determina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transferencia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energía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sucediendo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consecuencia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energía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 o TM (par e impar). Esta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fundamentalmente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(gap) y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cladding,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diferente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indican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transparencia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B685-52DE-A2E4-0A81-7EC278FE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863464E3-32F0-BDB0-C86D-77868A92A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06ADE66-A44D-896B-03DB-FE01F1D9B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D5EC50D-C5ED-A9BA-7E33-E6C2CBE068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A63526-8B19-5D7A-88C4-13B1932D8DD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pic>
        <p:nvPicPr>
          <p:cNvPr id="5" name="Picture 4" descr="A blue rectangular with red circles&#10;&#10;AI-generated content may be incorrect.">
            <a:extLst>
              <a:ext uri="{FF2B5EF4-FFF2-40B4-BE49-F238E27FC236}">
                <a16:creationId xmlns:a16="http://schemas.microsoft.com/office/drawing/2014/main" id="{7F333E5E-0E67-48FD-7E24-CAFF2A120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82" y="1187861"/>
            <a:ext cx="2685680" cy="1836080"/>
          </a:xfrm>
          <a:prstGeom prst="rect">
            <a:avLst/>
          </a:prstGeom>
        </p:spPr>
      </p:pic>
      <p:pic>
        <p:nvPicPr>
          <p:cNvPr id="6" name="Picture 5" descr="A graph with red and blue circles&#10;&#10;AI-generated content may be incorrect.">
            <a:extLst>
              <a:ext uri="{FF2B5EF4-FFF2-40B4-BE49-F238E27FC236}">
                <a16:creationId xmlns:a16="http://schemas.microsoft.com/office/drawing/2014/main" id="{446029C2-A599-5F68-3CBE-F888B255B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9307" y="1187861"/>
            <a:ext cx="2691885" cy="1802313"/>
          </a:xfrm>
          <a:prstGeom prst="rect">
            <a:avLst/>
          </a:prstGeom>
        </p:spPr>
      </p:pic>
      <p:pic>
        <p:nvPicPr>
          <p:cNvPr id="7" name="Picture 6" descr="A graph showing a number of red circles&#10;&#10;AI-generated content may be incorrect.">
            <a:extLst>
              <a:ext uri="{FF2B5EF4-FFF2-40B4-BE49-F238E27FC236}">
                <a16:creationId xmlns:a16="http://schemas.microsoft.com/office/drawing/2014/main" id="{063D3DE4-00DB-8D00-109E-74C23A8C5D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9958" y="3679911"/>
            <a:ext cx="2747041" cy="1836080"/>
          </a:xfrm>
          <a:prstGeom prst="rect">
            <a:avLst/>
          </a:prstGeom>
        </p:spPr>
      </p:pic>
      <p:pic>
        <p:nvPicPr>
          <p:cNvPr id="8" name="Picture 7" descr="A graph of red and blue lines&#10;&#10;AI-generated content may be incorrect.">
            <a:extLst>
              <a:ext uri="{FF2B5EF4-FFF2-40B4-BE49-F238E27FC236}">
                <a16:creationId xmlns:a16="http://schemas.microsoft.com/office/drawing/2014/main" id="{E4E719AB-1EEE-F072-658E-9707F76D81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7605" y="3643668"/>
            <a:ext cx="2735287" cy="18360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13872D-847D-0DF7-B1E5-8A818F29E577}"/>
              </a:ext>
            </a:extLst>
          </p:cNvPr>
          <p:cNvSpPr txBox="1"/>
          <p:nvPr/>
        </p:nvSpPr>
        <p:spPr>
          <a:xfrm>
            <a:off x="657520" y="1407711"/>
            <a:ext cx="2681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Cross-section directional coupler:</a:t>
            </a:r>
          </a:p>
        </p:txBody>
      </p:sp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B6A0902-E104-A579-83F7-AEC27439D8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333" y="4512011"/>
            <a:ext cx="4345673" cy="1525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32D9D5-5E61-983B-CF56-745908DA2EA9}"/>
              </a:ext>
            </a:extLst>
          </p:cNvPr>
          <p:cNvSpPr txBox="1"/>
          <p:nvPr/>
        </p:nvSpPr>
        <p:spPr>
          <a:xfrm>
            <a:off x="657520" y="2590800"/>
            <a:ext cx="48118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La </a:t>
            </a:r>
            <a:r>
              <a:rPr lang="en-GB" sz="1400" dirty="0" err="1"/>
              <a:t>distancia</a:t>
            </a:r>
            <a:r>
              <a:rPr lang="en-GB" sz="1400" dirty="0"/>
              <a:t> de batido para </a:t>
            </a:r>
            <a:r>
              <a:rPr lang="en-GB" sz="1400" dirty="0" err="1"/>
              <a:t>los</a:t>
            </a:r>
            <a:r>
              <a:rPr lang="en-GB" sz="1400" dirty="0"/>
              <a:t> </a:t>
            </a:r>
            <a:r>
              <a:rPr lang="en-GB" sz="1400" dirty="0" err="1"/>
              <a:t>modos</a:t>
            </a:r>
            <a:r>
              <a:rPr lang="en-GB" sz="1400" dirty="0"/>
              <a:t> TE es de 93.837 </a:t>
            </a:r>
            <a:r>
              <a:rPr lang="en-GB" sz="1400" dirty="0" err="1"/>
              <a:t>micras</a:t>
            </a:r>
            <a:r>
              <a:rPr lang="en-GB" sz="1400" dirty="0"/>
              <a:t> y para </a:t>
            </a:r>
            <a:r>
              <a:rPr lang="en-GB" sz="1400" dirty="0" err="1"/>
              <a:t>los</a:t>
            </a:r>
            <a:r>
              <a:rPr lang="en-GB" sz="1400" dirty="0"/>
              <a:t> </a:t>
            </a:r>
            <a:r>
              <a:rPr lang="en-GB" sz="1400" dirty="0" err="1"/>
              <a:t>modos</a:t>
            </a:r>
            <a:r>
              <a:rPr lang="en-GB" sz="1400" dirty="0"/>
              <a:t> TM es de 52.260 </a:t>
            </a:r>
            <a:r>
              <a:rPr lang="en-GB" sz="1400" dirty="0" err="1"/>
              <a:t>micras</a:t>
            </a:r>
            <a:r>
              <a:rPr lang="en-GB" sz="1400" dirty="0"/>
              <a:t>, </a:t>
            </a:r>
            <a:r>
              <a:rPr lang="en-GB" sz="1400" dirty="0" err="1"/>
              <a:t>por</a:t>
            </a:r>
            <a:r>
              <a:rPr lang="en-GB" sz="1400" dirty="0"/>
              <a:t> lo </a:t>
            </a:r>
            <a:r>
              <a:rPr lang="en-GB" sz="1400" dirty="0" err="1"/>
              <a:t>que</a:t>
            </a:r>
            <a:r>
              <a:rPr lang="en-GB" sz="1400" dirty="0"/>
              <a:t> </a:t>
            </a:r>
            <a:r>
              <a:rPr lang="en-GB" sz="1400" dirty="0" err="1"/>
              <a:t>el</a:t>
            </a:r>
            <a:r>
              <a:rPr lang="en-GB" sz="1400" dirty="0"/>
              <a:t> </a:t>
            </a:r>
            <a:r>
              <a:rPr lang="en-GB" sz="1400" dirty="0" err="1"/>
              <a:t>dispositivo</a:t>
            </a:r>
            <a:r>
              <a:rPr lang="en-GB" sz="1400" dirty="0"/>
              <a:t> se </a:t>
            </a:r>
            <a:r>
              <a:rPr lang="en-GB" sz="1400" dirty="0" err="1"/>
              <a:t>comporta</a:t>
            </a:r>
            <a:r>
              <a:rPr lang="en-GB" sz="1400" dirty="0"/>
              <a:t> </a:t>
            </a:r>
            <a:r>
              <a:rPr lang="en-GB" sz="1400" dirty="0" err="1"/>
              <a:t>muy</a:t>
            </a:r>
            <a:r>
              <a:rPr lang="en-GB" sz="1400" dirty="0"/>
              <a:t> </a:t>
            </a:r>
            <a:r>
              <a:rPr lang="en-GB" sz="1400" dirty="0" err="1"/>
              <a:t>diferente</a:t>
            </a:r>
            <a:r>
              <a:rPr lang="en-GB" sz="1400" dirty="0"/>
              <a:t> para ambas </a:t>
            </a:r>
            <a:r>
              <a:rPr lang="en-GB" sz="1400" dirty="0" err="1"/>
              <a:t>polarizaciones</a:t>
            </a:r>
            <a:r>
              <a:rPr lang="en-GB" sz="1400" dirty="0"/>
              <a:t>.</a:t>
            </a:r>
          </a:p>
          <a:p>
            <a:endParaRPr lang="en-GB" sz="1400" dirty="0"/>
          </a:p>
          <a:p>
            <a:r>
              <a:rPr lang="en-GB" sz="1400" dirty="0"/>
              <a:t>Esta </a:t>
            </a:r>
            <a:r>
              <a:rPr lang="en-GB" sz="1400" dirty="0" err="1"/>
              <a:t>distancia</a:t>
            </a:r>
            <a:r>
              <a:rPr lang="en-GB" sz="1400" dirty="0"/>
              <a:t> se </a:t>
            </a:r>
            <a:r>
              <a:rPr lang="en-GB" sz="1400" dirty="0" err="1"/>
              <a:t>obtiene</a:t>
            </a:r>
            <a:r>
              <a:rPr lang="en-GB" sz="1400" dirty="0"/>
              <a:t> </a:t>
            </a:r>
            <a:r>
              <a:rPr lang="en-GB" sz="1400" dirty="0" err="1"/>
              <a:t>dividiendo</a:t>
            </a:r>
            <a:r>
              <a:rPr lang="en-GB" sz="1400" dirty="0"/>
              <a:t> 0.5*lambda entre la </a:t>
            </a:r>
            <a:r>
              <a:rPr lang="en-GB" sz="1400" dirty="0" err="1"/>
              <a:t>diferencia</a:t>
            </a:r>
            <a:r>
              <a:rPr lang="en-GB" sz="1400" dirty="0"/>
              <a:t> de </a:t>
            </a:r>
            <a:r>
              <a:rPr lang="en-GB" sz="1400" dirty="0" err="1"/>
              <a:t>índices</a:t>
            </a:r>
            <a:r>
              <a:rPr lang="en-GB" sz="1400" dirty="0"/>
              <a:t> </a:t>
            </a:r>
            <a:r>
              <a:rPr lang="en-GB" sz="1400" dirty="0" err="1"/>
              <a:t>efectivos</a:t>
            </a:r>
            <a:r>
              <a:rPr lang="en-GB" sz="1400" dirty="0"/>
              <a:t> (</a:t>
            </a:r>
            <a:r>
              <a:rPr lang="en-GB" sz="1400" dirty="0" err="1"/>
              <a:t>parte</a:t>
            </a:r>
            <a:r>
              <a:rPr lang="en-GB" sz="1400" dirty="0"/>
              <a:t> real) de ambos </a:t>
            </a:r>
            <a:r>
              <a:rPr lang="en-GB" sz="1400" dirty="0" err="1"/>
              <a:t>primeros</a:t>
            </a:r>
            <a:r>
              <a:rPr lang="en-GB" sz="1400" dirty="0"/>
              <a:t> </a:t>
            </a:r>
            <a:r>
              <a:rPr lang="en-GB" sz="1400" dirty="0" err="1"/>
              <a:t>modos</a:t>
            </a:r>
            <a:r>
              <a:rPr lang="en-GB" sz="1400" dirty="0"/>
              <a:t> de la </a:t>
            </a:r>
            <a:r>
              <a:rPr lang="en-GB" sz="1400" dirty="0" err="1"/>
              <a:t>respectiva</a:t>
            </a:r>
            <a:r>
              <a:rPr lang="en-GB" sz="1400" dirty="0"/>
              <a:t> </a:t>
            </a:r>
            <a:r>
              <a:rPr lang="en-GB" sz="1400" dirty="0" err="1"/>
              <a:t>polarización</a:t>
            </a:r>
            <a:r>
              <a:rPr lang="en-GB" sz="1400" dirty="0"/>
              <a:t>.</a:t>
            </a:r>
          </a:p>
        </p:txBody>
      </p:sp>
      <p:pic>
        <p:nvPicPr>
          <p:cNvPr id="17" name="Picture 16" descr="A purple rectangular with yellow lines&#10;&#10;AI-generated content may be incorrect.">
            <a:extLst>
              <a:ext uri="{FF2B5EF4-FFF2-40B4-BE49-F238E27FC236}">
                <a16:creationId xmlns:a16="http://schemas.microsoft.com/office/drawing/2014/main" id="{B4C38257-B732-F3A2-E750-9EE83FCF66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1900" y="912912"/>
            <a:ext cx="2286000" cy="16051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1A2153-BAC3-F07C-2A8B-F80A76BDFD3E}"/>
              </a:ext>
            </a:extLst>
          </p:cNvPr>
          <p:cNvSpPr txBox="1"/>
          <p:nvPr/>
        </p:nvSpPr>
        <p:spPr>
          <a:xfrm>
            <a:off x="9839450" y="3016953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 1 (TE)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70229E-16D2-D56C-F907-258E36C18BED}"/>
              </a:ext>
            </a:extLst>
          </p:cNvPr>
          <p:cNvSpPr txBox="1"/>
          <p:nvPr/>
        </p:nvSpPr>
        <p:spPr>
          <a:xfrm>
            <a:off x="7048908" y="5491676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 2 (TM)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135107-321E-8300-AC19-F9179F03B9A2}"/>
              </a:ext>
            </a:extLst>
          </p:cNvPr>
          <p:cNvSpPr txBox="1"/>
          <p:nvPr/>
        </p:nvSpPr>
        <p:spPr>
          <a:xfrm>
            <a:off x="10082981" y="5473779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 3 (TM)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13690A-EAED-4FD0-19DD-F65FC14158DB}"/>
              </a:ext>
            </a:extLst>
          </p:cNvPr>
          <p:cNvSpPr txBox="1"/>
          <p:nvPr/>
        </p:nvSpPr>
        <p:spPr>
          <a:xfrm>
            <a:off x="6932250" y="3020654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 0 (TE)</a:t>
            </a:r>
          </a:p>
        </p:txBody>
      </p:sp>
    </p:spTree>
    <p:extLst>
      <p:ext uri="{BB962C8B-B14F-4D97-AF65-F5344CB8AC3E}">
        <p14:creationId xmlns:p14="http://schemas.microsoft.com/office/powerpoint/2010/main" val="3620802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874" y="10668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Present Python and </a:t>
                </a:r>
                <a:r>
                  <a:rPr lang="en-US" dirty="0" err="1"/>
                  <a:t>GDSFactory</a:t>
                </a:r>
                <a:r>
                  <a:rPr lang="en-US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b="1" dirty="0"/>
                  <a:t>ALL EXAMPLE #2: </a:t>
                </a:r>
                <a:r>
                  <a:rPr lang="en-US" dirty="0"/>
                  <a:t>waveguide width 12 µm, gap between waveguides 0.6 µm, deep </a:t>
                </a:r>
                <a:r>
                  <a:rPr lang="en-US" dirty="0" err="1"/>
                  <a:t>wvg</a:t>
                </a:r>
                <a:r>
                  <a:rPr lang="en-US" dirty="0"/>
                  <a:t>, wavelength start and end same 1.55 µm </a:t>
                </a:r>
                <a:r>
                  <a:rPr lang="en-US" dirty="0">
                    <a:sym typeface="Wingdings" pitchFamily="2" charset="2"/>
                  </a:rPr>
                  <a:t> all ”Run”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b="1" dirty="0"/>
                  <a:t>ALL: </a:t>
                </a:r>
                <a:r>
                  <a:rPr lang="en-US" dirty="0"/>
                  <a:t>Follow</a:t>
                </a:r>
                <a:r>
                  <a:rPr lang="en-US" b="1" dirty="0"/>
                  <a:t> </a:t>
                </a:r>
                <a:r>
                  <a:rPr lang="en-US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u="sng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74" y="10668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441" t="-615" r="-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583019" y="3316913"/>
            <a:ext cx="11199971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of different modes, comparison between different polarizations…)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multimodo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diseñado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micras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300 nm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utilizando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gt.modes.waveguide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solucionado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15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dada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último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cladding,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suponer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margen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muchos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15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muestran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diapositiva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Mostramos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también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transversal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algunos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 nuevo,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cálculo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batido,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encontrar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(TE y TM).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TE,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batido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autoimagen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es de 219.41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micras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 es de 82.231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micras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Los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fueron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soluciones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Mode 0 y Mode 1 del solver,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fueron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Mode 9 y Mode 11.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34D0-305C-961D-156E-B4108E05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58146B3-6826-CA18-8771-56E9A33D57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BD371EA-EA2F-A25B-4C72-E9AC1C95F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D36C710-0A5F-E252-A3C2-3471ED88A5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885489-4BBD-137E-9A98-6A4155F42B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959ED-C211-912F-6409-3B7245C5519C}"/>
              </a:ext>
            </a:extLst>
          </p:cNvPr>
          <p:cNvSpPr txBox="1"/>
          <p:nvPr/>
        </p:nvSpPr>
        <p:spPr>
          <a:xfrm>
            <a:off x="708581" y="1275126"/>
            <a:ext cx="3318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Cross-section multimode coupler: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11F60-B975-5693-64AC-AB9F6675116E}"/>
              </a:ext>
            </a:extLst>
          </p:cNvPr>
          <p:cNvSpPr txBox="1"/>
          <p:nvPr/>
        </p:nvSpPr>
        <p:spPr>
          <a:xfrm>
            <a:off x="9824370" y="3098980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 1 (TE)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E3C9C-575B-3E0C-1371-F188B376C401}"/>
              </a:ext>
            </a:extLst>
          </p:cNvPr>
          <p:cNvSpPr txBox="1"/>
          <p:nvPr/>
        </p:nvSpPr>
        <p:spPr>
          <a:xfrm>
            <a:off x="7007685" y="5494710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 9 (TM)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88C51-751B-622E-773A-565E3906D85C}"/>
              </a:ext>
            </a:extLst>
          </p:cNvPr>
          <p:cNvSpPr txBox="1"/>
          <p:nvPr/>
        </p:nvSpPr>
        <p:spPr>
          <a:xfrm>
            <a:off x="9947621" y="5494709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 11 (TM)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83C3A2-A8A6-B131-3644-A15C8EBE1C8B}"/>
              </a:ext>
            </a:extLst>
          </p:cNvPr>
          <p:cNvSpPr txBox="1"/>
          <p:nvPr/>
        </p:nvSpPr>
        <p:spPr>
          <a:xfrm>
            <a:off x="7007685" y="3119577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 0 (TE)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5C488-970C-A6EA-C5D4-DAD48BD89D35}"/>
              </a:ext>
            </a:extLst>
          </p:cNvPr>
          <p:cNvSpPr txBox="1"/>
          <p:nvPr/>
        </p:nvSpPr>
        <p:spPr>
          <a:xfrm>
            <a:off x="708581" y="2497396"/>
            <a:ext cx="48540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La </a:t>
            </a:r>
            <a:r>
              <a:rPr lang="en-GB" sz="1400" dirty="0" err="1"/>
              <a:t>distancia</a:t>
            </a:r>
            <a:r>
              <a:rPr lang="en-GB" sz="1400" dirty="0"/>
              <a:t> de batido para </a:t>
            </a:r>
            <a:r>
              <a:rPr lang="en-GB" sz="1400" dirty="0" err="1"/>
              <a:t>los</a:t>
            </a:r>
            <a:r>
              <a:rPr lang="en-GB" sz="1400" dirty="0"/>
              <a:t> </a:t>
            </a:r>
            <a:r>
              <a:rPr lang="en-GB" sz="1400" dirty="0" err="1"/>
              <a:t>modos</a:t>
            </a:r>
            <a:r>
              <a:rPr lang="en-GB" sz="1400" dirty="0"/>
              <a:t> TE es de 219.411 </a:t>
            </a:r>
            <a:r>
              <a:rPr lang="en-GB" sz="1400" dirty="0" err="1"/>
              <a:t>micras</a:t>
            </a:r>
            <a:r>
              <a:rPr lang="en-GB" sz="1400" dirty="0"/>
              <a:t> y para </a:t>
            </a:r>
            <a:r>
              <a:rPr lang="en-GB" sz="1400" dirty="0" err="1"/>
              <a:t>los</a:t>
            </a:r>
            <a:r>
              <a:rPr lang="en-GB" sz="1400" dirty="0"/>
              <a:t> </a:t>
            </a:r>
            <a:r>
              <a:rPr lang="en-GB" sz="1400" dirty="0" err="1"/>
              <a:t>modos</a:t>
            </a:r>
            <a:r>
              <a:rPr lang="en-GB" sz="1400" dirty="0"/>
              <a:t> TM es de 82.231 </a:t>
            </a:r>
            <a:r>
              <a:rPr lang="en-GB" sz="1400" dirty="0" err="1"/>
              <a:t>micras</a:t>
            </a:r>
            <a:r>
              <a:rPr lang="en-GB" sz="1400" dirty="0"/>
              <a:t>, </a:t>
            </a:r>
            <a:r>
              <a:rPr lang="en-GB" sz="1400" dirty="0" err="1"/>
              <a:t>por</a:t>
            </a:r>
            <a:r>
              <a:rPr lang="en-GB" sz="1400" dirty="0"/>
              <a:t> lo </a:t>
            </a:r>
            <a:r>
              <a:rPr lang="en-GB" sz="1400" dirty="0" err="1"/>
              <a:t>que</a:t>
            </a:r>
            <a:r>
              <a:rPr lang="en-GB" sz="1400" dirty="0"/>
              <a:t> </a:t>
            </a:r>
            <a:r>
              <a:rPr lang="en-GB" sz="1400" dirty="0" err="1"/>
              <a:t>el</a:t>
            </a:r>
            <a:r>
              <a:rPr lang="en-GB" sz="1400" dirty="0"/>
              <a:t> </a:t>
            </a:r>
            <a:r>
              <a:rPr lang="en-GB" sz="1400" dirty="0" err="1"/>
              <a:t>dispositivo</a:t>
            </a:r>
            <a:r>
              <a:rPr lang="en-GB" sz="1400" dirty="0"/>
              <a:t> se </a:t>
            </a:r>
            <a:r>
              <a:rPr lang="en-GB" sz="1400" dirty="0" err="1"/>
              <a:t>comporta</a:t>
            </a:r>
            <a:r>
              <a:rPr lang="en-GB" sz="1400" dirty="0"/>
              <a:t> </a:t>
            </a:r>
            <a:r>
              <a:rPr lang="en-GB" sz="1400" dirty="0" err="1"/>
              <a:t>muy</a:t>
            </a:r>
            <a:r>
              <a:rPr lang="en-GB" sz="1400" dirty="0"/>
              <a:t> </a:t>
            </a:r>
            <a:r>
              <a:rPr lang="en-GB" sz="1400" dirty="0" err="1"/>
              <a:t>diferente</a:t>
            </a:r>
            <a:r>
              <a:rPr lang="en-GB" sz="1400" dirty="0"/>
              <a:t> para ambas </a:t>
            </a:r>
            <a:r>
              <a:rPr lang="en-GB" sz="1400" dirty="0" err="1"/>
              <a:t>polarizaciones</a:t>
            </a:r>
            <a:r>
              <a:rPr lang="en-GB" sz="1400" dirty="0"/>
              <a:t>.</a:t>
            </a:r>
          </a:p>
          <a:p>
            <a:endParaRPr lang="en-GB" sz="1400" dirty="0"/>
          </a:p>
          <a:p>
            <a:r>
              <a:rPr lang="en-GB" sz="1400" dirty="0"/>
              <a:t>Esta </a:t>
            </a:r>
            <a:r>
              <a:rPr lang="en-GB" sz="1400" dirty="0" err="1"/>
              <a:t>distancia</a:t>
            </a:r>
            <a:r>
              <a:rPr lang="en-GB" sz="1400" dirty="0"/>
              <a:t> se </a:t>
            </a:r>
            <a:r>
              <a:rPr lang="en-GB" sz="1400" dirty="0" err="1"/>
              <a:t>obtiene</a:t>
            </a:r>
            <a:r>
              <a:rPr lang="en-GB" sz="1400" dirty="0"/>
              <a:t> </a:t>
            </a:r>
            <a:r>
              <a:rPr lang="en-GB" sz="1400" dirty="0" err="1"/>
              <a:t>dividiendo</a:t>
            </a:r>
            <a:r>
              <a:rPr lang="en-GB" sz="1400" dirty="0"/>
              <a:t> 0.5*lambda entre la </a:t>
            </a:r>
            <a:r>
              <a:rPr lang="en-GB" sz="1400" dirty="0" err="1"/>
              <a:t>diferencia</a:t>
            </a:r>
            <a:r>
              <a:rPr lang="en-GB" sz="1400" dirty="0"/>
              <a:t> de </a:t>
            </a:r>
            <a:r>
              <a:rPr lang="en-GB" sz="1400" dirty="0" err="1"/>
              <a:t>índices</a:t>
            </a:r>
            <a:r>
              <a:rPr lang="en-GB" sz="1400" dirty="0"/>
              <a:t> </a:t>
            </a:r>
            <a:r>
              <a:rPr lang="en-GB" sz="1400" dirty="0" err="1"/>
              <a:t>efectivos</a:t>
            </a:r>
            <a:r>
              <a:rPr lang="en-GB" sz="1400" dirty="0"/>
              <a:t> (</a:t>
            </a:r>
            <a:r>
              <a:rPr lang="en-GB" sz="1400" dirty="0" err="1"/>
              <a:t>parte</a:t>
            </a:r>
            <a:r>
              <a:rPr lang="en-GB" sz="1400" dirty="0"/>
              <a:t> real) de ambos </a:t>
            </a:r>
            <a:r>
              <a:rPr lang="en-GB" sz="1400" dirty="0" err="1"/>
              <a:t>primeros</a:t>
            </a:r>
            <a:r>
              <a:rPr lang="en-GB" sz="1400" dirty="0"/>
              <a:t> </a:t>
            </a:r>
            <a:r>
              <a:rPr lang="en-GB" sz="1400" dirty="0" err="1"/>
              <a:t>modos</a:t>
            </a:r>
            <a:r>
              <a:rPr lang="en-GB" sz="1400" dirty="0"/>
              <a:t> de la </a:t>
            </a:r>
            <a:r>
              <a:rPr lang="en-GB" sz="1400" dirty="0" err="1"/>
              <a:t>respectiva</a:t>
            </a:r>
            <a:r>
              <a:rPr lang="en-GB" sz="1400" dirty="0"/>
              <a:t> </a:t>
            </a:r>
            <a:r>
              <a:rPr lang="en-GB" sz="1400" dirty="0" err="1"/>
              <a:t>polarización</a:t>
            </a:r>
            <a:r>
              <a:rPr lang="en-GB" sz="1400" dirty="0"/>
              <a:t>.</a:t>
            </a:r>
          </a:p>
        </p:txBody>
      </p:sp>
      <p:pic>
        <p:nvPicPr>
          <p:cNvPr id="11" name="Picture 10" descr="A purple rectangular with yellow lines&#10;&#10;AI-generated content may be incorrect.">
            <a:extLst>
              <a:ext uri="{FF2B5EF4-FFF2-40B4-BE49-F238E27FC236}">
                <a16:creationId xmlns:a16="http://schemas.microsoft.com/office/drawing/2014/main" id="{C8F7169F-20D7-2356-B8D1-8422B8946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344" y="841823"/>
            <a:ext cx="2057400" cy="1479350"/>
          </a:xfrm>
          <a:prstGeom prst="rect">
            <a:avLst/>
          </a:prstGeom>
        </p:spPr>
      </p:pic>
      <p:pic>
        <p:nvPicPr>
          <p:cNvPr id="12" name="Picture 11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F5F9A9FF-F816-6299-FF38-7470682BA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043" y="1105058"/>
            <a:ext cx="2577448" cy="1839684"/>
          </a:xfrm>
          <a:prstGeom prst="rect">
            <a:avLst/>
          </a:prstGeom>
        </p:spPr>
      </p:pic>
      <p:pic>
        <p:nvPicPr>
          <p:cNvPr id="13" name="Picture 12" descr="A graph showing a number of red and blue circles&#10;&#10;AI-generated content may be incorrect.">
            <a:extLst>
              <a:ext uri="{FF2B5EF4-FFF2-40B4-BE49-F238E27FC236}">
                <a16:creationId xmlns:a16="http://schemas.microsoft.com/office/drawing/2014/main" id="{3B51EC55-B725-F3C2-F5A8-C447A84F3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7688" y="1171164"/>
            <a:ext cx="2577448" cy="1803286"/>
          </a:xfrm>
          <a:prstGeom prst="rect">
            <a:avLst/>
          </a:prstGeom>
        </p:spPr>
      </p:pic>
      <p:pic>
        <p:nvPicPr>
          <p:cNvPr id="14" name="Picture 13" descr="A graph of a bar and a bar of numbers&#10;&#10;AI-generated content may be incorrect.">
            <a:extLst>
              <a:ext uri="{FF2B5EF4-FFF2-40B4-BE49-F238E27FC236}">
                <a16:creationId xmlns:a16="http://schemas.microsoft.com/office/drawing/2014/main" id="{92EA841E-0C6D-3B8C-AC7B-A29000C304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304" y="3717343"/>
            <a:ext cx="2596362" cy="1800330"/>
          </a:xfrm>
          <a:prstGeom prst="rect">
            <a:avLst/>
          </a:prstGeom>
        </p:spPr>
      </p:pic>
      <p:pic>
        <p:nvPicPr>
          <p:cNvPr id="15" name="Picture 14" descr="A graph of a bar with numbers and a graph&#10;&#10;AI-generated content may be incorrect.">
            <a:extLst>
              <a:ext uri="{FF2B5EF4-FFF2-40B4-BE49-F238E27FC236}">
                <a16:creationId xmlns:a16="http://schemas.microsoft.com/office/drawing/2014/main" id="{53195A5D-9251-8706-4D17-5E69077DEA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1640" y="3780934"/>
            <a:ext cx="2498382" cy="1732390"/>
          </a:xfrm>
          <a:prstGeom prst="rect">
            <a:avLst/>
          </a:prstGeom>
        </p:spPr>
      </p:pic>
      <p:pic>
        <p:nvPicPr>
          <p:cNvPr id="18" name="Picture 1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64D9140-64F4-F09C-957E-AAD7588AF4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863" y="4272486"/>
            <a:ext cx="3301245" cy="180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7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</TotalTime>
  <Words>986</Words>
  <Application>Microsoft Office PowerPoint</Application>
  <PresentationFormat>Widescreen</PresentationFormat>
  <Paragraphs>94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PowerPoint Presentation</vt:lpstr>
      <vt:lpstr>Instructions General</vt:lpstr>
      <vt:lpstr>Learning outcome #1 – Directional coupler cross-section in GDSFactory </vt:lpstr>
      <vt:lpstr>Learning outcome #1 – Directional coupler cross-section in GDSFactory </vt:lpstr>
      <vt:lpstr>Learning outcome #2 – Multimode Interference (MMI) Coupler cross-section</vt:lpstr>
      <vt:lpstr>Learning outcome #2 – Multimode Interference (MMI) Coupler cross-section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David Garcia Santes</cp:lastModifiedBy>
  <cp:revision>17</cp:revision>
  <dcterms:created xsi:type="dcterms:W3CDTF">2025-01-27T02:46:57Z</dcterms:created>
  <dcterms:modified xsi:type="dcterms:W3CDTF">2026-03-02T16:56:57Z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