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6" r:id="rId2"/>
    <p:sldId id="289" r:id="rId3"/>
    <p:sldId id="290" r:id="rId4"/>
    <p:sldId id="291" r:id="rId5"/>
    <p:sldId id="288" r:id="rId6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490BF8D-8585-4F2B-A5CB-D2E35DA39BA0}" v="3" dt="2026-02-09T16:36:28.849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79" d="100"/>
          <a:sy n="79" d="100"/>
        </p:scale>
        <p:origin x="1210" y="4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Garcia Santes" userId="135ceecb-b000-49fa-8308-b8645db89666" providerId="ADAL" clId="{0639B51C-9325-4622-8C1B-F9D29A778947}"/>
    <pc:docChg chg="custSel modSld">
      <pc:chgData name="David Garcia Santes" userId="135ceecb-b000-49fa-8308-b8645db89666" providerId="ADAL" clId="{0639B51C-9325-4622-8C1B-F9D29A778947}" dt="2026-02-09T16:37:15.461" v="428" actId="20577"/>
      <pc:docMkLst>
        <pc:docMk/>
      </pc:docMkLst>
      <pc:sldChg chg="modSp mod">
        <pc:chgData name="David Garcia Santes" userId="135ceecb-b000-49fa-8308-b8645db89666" providerId="ADAL" clId="{0639B51C-9325-4622-8C1B-F9D29A778947}" dt="2026-02-09T16:37:15.461" v="428" actId="20577"/>
        <pc:sldMkLst>
          <pc:docMk/>
          <pc:sldMk cId="3712356003" sldId="291"/>
        </pc:sldMkLst>
        <pc:spChg chg="mod">
          <ac:chgData name="David Garcia Santes" userId="135ceecb-b000-49fa-8308-b8645db89666" providerId="ADAL" clId="{0639B51C-9325-4622-8C1B-F9D29A778947}" dt="2026-02-09T16:37:15.461" v="428" actId="20577"/>
          <ac:spMkLst>
            <pc:docMk/>
            <pc:sldMk cId="3712356003" sldId="291"/>
            <ac:spMk id="2" creationId="{CA5F0FDF-2A95-453B-4ECA-AEB637FF2694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09/02/2026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09/02/2026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0.1. MODESOLVER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0.git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0.1. </a:t>
            </a:r>
            <a:r>
              <a:rPr lang="es-ES" sz="3200" b="1" dirty="0" err="1">
                <a:latin typeface="Lucida Sans"/>
                <a:cs typeface="Lucida Sans"/>
              </a:rPr>
              <a:t>ModeSolver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  <a:hlinkClick r:id="rId4"/>
              </a:rPr>
              <a:t>https://github.com/cccanvas-upv/pic-upv-lab0.git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010_MODESOLVER_Student.ipynb </a:t>
            </a:r>
          </a:p>
          <a:p>
            <a:pPr algn="just"/>
            <a:r>
              <a:rPr lang="en-US" b="1" kern="0" dirty="0">
                <a:solidFill>
                  <a:sysClr val="windowText" lastClr="000000"/>
                </a:solidFill>
              </a:rPr>
              <a:t>INSTRUCTIONS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dirty="0"/>
              <a:t>We are going to work with different </a:t>
            </a:r>
            <a:r>
              <a:rPr lang="en-US" b="1" i="1" dirty="0"/>
              <a:t>Cross-Sections. </a:t>
            </a:r>
            <a:r>
              <a:rPr lang="en-US" dirty="0"/>
              <a:t>In general, we will need: </a:t>
            </a:r>
            <a:r>
              <a:rPr lang="en-US" b="1" i="1" dirty="0"/>
              <a:t>Materials</a:t>
            </a:r>
            <a:r>
              <a:rPr lang="en-US" dirty="0"/>
              <a:t> definitions and the </a:t>
            </a:r>
            <a:r>
              <a:rPr lang="en-US" b="1" dirty="0"/>
              <a:t>Geometrical</a:t>
            </a:r>
            <a:r>
              <a:rPr lang="en-US" dirty="0"/>
              <a:t> parameters of each Cross-section</a:t>
            </a:r>
            <a:r>
              <a:rPr lang="en-US" b="1" i="1" dirty="0"/>
              <a:t>.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5" name="object 7">
            <a:extLst>
              <a:ext uri="{FF2B5EF4-FFF2-40B4-BE49-F238E27FC236}">
                <a16:creationId xmlns:a16="http://schemas.microsoft.com/office/drawing/2014/main" id="{B99085AB-5BCA-5571-FA65-E3617707DBFA}"/>
              </a:ext>
            </a:extLst>
          </p:cNvPr>
          <p:cNvSpPr/>
          <p:nvPr/>
        </p:nvSpPr>
        <p:spPr>
          <a:xfrm>
            <a:off x="1245115" y="4499713"/>
            <a:ext cx="544195" cy="344805"/>
          </a:xfrm>
          <a:custGeom>
            <a:avLst/>
            <a:gdLst/>
            <a:ahLst/>
            <a:cxnLst/>
            <a:rect l="l" t="t" r="r" b="b"/>
            <a:pathLst>
              <a:path w="544195" h="344805">
                <a:moveTo>
                  <a:pt x="0" y="344424"/>
                </a:moveTo>
                <a:lnTo>
                  <a:pt x="544067" y="344424"/>
                </a:lnTo>
                <a:lnTo>
                  <a:pt x="544067" y="0"/>
                </a:lnTo>
                <a:lnTo>
                  <a:pt x="0" y="0"/>
                </a:lnTo>
                <a:lnTo>
                  <a:pt x="0" y="344424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8">
            <a:extLst>
              <a:ext uri="{FF2B5EF4-FFF2-40B4-BE49-F238E27FC236}">
                <a16:creationId xmlns:a16="http://schemas.microsoft.com/office/drawing/2014/main" id="{17590B25-6ABE-9620-2C63-B4856DDBCE5D}"/>
              </a:ext>
            </a:extLst>
          </p:cNvPr>
          <p:cNvSpPr/>
          <p:nvPr/>
        </p:nvSpPr>
        <p:spPr>
          <a:xfrm>
            <a:off x="1245115" y="4499713"/>
            <a:ext cx="544195" cy="344805"/>
          </a:xfrm>
          <a:custGeom>
            <a:avLst/>
            <a:gdLst/>
            <a:ahLst/>
            <a:cxnLst/>
            <a:rect l="l" t="t" r="r" b="b"/>
            <a:pathLst>
              <a:path w="544195" h="344805">
                <a:moveTo>
                  <a:pt x="0" y="344424"/>
                </a:moveTo>
                <a:lnTo>
                  <a:pt x="544067" y="344424"/>
                </a:lnTo>
                <a:lnTo>
                  <a:pt x="544067" y="0"/>
                </a:lnTo>
                <a:lnTo>
                  <a:pt x="0" y="0"/>
                </a:lnTo>
                <a:lnTo>
                  <a:pt x="0" y="344424"/>
                </a:lnTo>
                <a:close/>
              </a:path>
            </a:pathLst>
          </a:custGeom>
          <a:ln w="12191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object 9">
            <a:extLst>
              <a:ext uri="{FF2B5EF4-FFF2-40B4-BE49-F238E27FC236}">
                <a16:creationId xmlns:a16="http://schemas.microsoft.com/office/drawing/2014/main" id="{854026DA-C7BC-391A-30F9-BF8D7187210E}"/>
              </a:ext>
            </a:extLst>
          </p:cNvPr>
          <p:cNvSpPr/>
          <p:nvPr/>
        </p:nvSpPr>
        <p:spPr>
          <a:xfrm>
            <a:off x="1245115" y="3905354"/>
            <a:ext cx="1323340" cy="594360"/>
          </a:xfrm>
          <a:custGeom>
            <a:avLst/>
            <a:gdLst/>
            <a:ahLst/>
            <a:cxnLst/>
            <a:rect l="l" t="t" r="r" b="b"/>
            <a:pathLst>
              <a:path w="1323340" h="594360">
                <a:moveTo>
                  <a:pt x="1322832" y="0"/>
                </a:moveTo>
                <a:lnTo>
                  <a:pt x="769493" y="0"/>
                </a:lnTo>
                <a:lnTo>
                  <a:pt x="0" y="594359"/>
                </a:lnTo>
                <a:lnTo>
                  <a:pt x="553338" y="594359"/>
                </a:lnTo>
                <a:lnTo>
                  <a:pt x="1322832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5" name="object 10">
            <a:extLst>
              <a:ext uri="{FF2B5EF4-FFF2-40B4-BE49-F238E27FC236}">
                <a16:creationId xmlns:a16="http://schemas.microsoft.com/office/drawing/2014/main" id="{68F18FA1-D512-5553-8E16-C81F17B1FD4E}"/>
              </a:ext>
            </a:extLst>
          </p:cNvPr>
          <p:cNvSpPr/>
          <p:nvPr/>
        </p:nvSpPr>
        <p:spPr>
          <a:xfrm>
            <a:off x="1245115" y="3905354"/>
            <a:ext cx="1323340" cy="594360"/>
          </a:xfrm>
          <a:custGeom>
            <a:avLst/>
            <a:gdLst/>
            <a:ahLst/>
            <a:cxnLst/>
            <a:rect l="l" t="t" r="r" b="b"/>
            <a:pathLst>
              <a:path w="1323340" h="594360">
                <a:moveTo>
                  <a:pt x="0" y="594359"/>
                </a:moveTo>
                <a:lnTo>
                  <a:pt x="769493" y="0"/>
                </a:lnTo>
                <a:lnTo>
                  <a:pt x="1322832" y="0"/>
                </a:lnTo>
                <a:lnTo>
                  <a:pt x="553338" y="594359"/>
                </a:lnTo>
                <a:lnTo>
                  <a:pt x="0" y="594359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6" name="object 11">
            <a:extLst>
              <a:ext uri="{FF2B5EF4-FFF2-40B4-BE49-F238E27FC236}">
                <a16:creationId xmlns:a16="http://schemas.microsoft.com/office/drawing/2014/main" id="{B6F403B3-198D-766C-7FF5-06096D396DAF}"/>
              </a:ext>
            </a:extLst>
          </p:cNvPr>
          <p:cNvSpPr/>
          <p:nvPr/>
        </p:nvSpPr>
        <p:spPr>
          <a:xfrm>
            <a:off x="1789183" y="3905354"/>
            <a:ext cx="779145" cy="939165"/>
          </a:xfrm>
          <a:custGeom>
            <a:avLst/>
            <a:gdLst/>
            <a:ahLst/>
            <a:cxnLst/>
            <a:rect l="l" t="t" r="r" b="b"/>
            <a:pathLst>
              <a:path w="779145" h="939164">
                <a:moveTo>
                  <a:pt x="778763" y="0"/>
                </a:moveTo>
                <a:lnTo>
                  <a:pt x="0" y="593343"/>
                </a:lnTo>
                <a:lnTo>
                  <a:pt x="0" y="938783"/>
                </a:lnTo>
                <a:lnTo>
                  <a:pt x="778763" y="345439"/>
                </a:lnTo>
                <a:lnTo>
                  <a:pt x="778763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7" name="object 12">
            <a:extLst>
              <a:ext uri="{FF2B5EF4-FFF2-40B4-BE49-F238E27FC236}">
                <a16:creationId xmlns:a16="http://schemas.microsoft.com/office/drawing/2014/main" id="{B4F33324-81A2-6D30-47DD-7A67FD038073}"/>
              </a:ext>
            </a:extLst>
          </p:cNvPr>
          <p:cNvSpPr/>
          <p:nvPr/>
        </p:nvSpPr>
        <p:spPr>
          <a:xfrm>
            <a:off x="1789183" y="3905354"/>
            <a:ext cx="779145" cy="939165"/>
          </a:xfrm>
          <a:custGeom>
            <a:avLst/>
            <a:gdLst/>
            <a:ahLst/>
            <a:cxnLst/>
            <a:rect l="l" t="t" r="r" b="b"/>
            <a:pathLst>
              <a:path w="779145" h="939164">
                <a:moveTo>
                  <a:pt x="778763" y="0"/>
                </a:moveTo>
                <a:lnTo>
                  <a:pt x="0" y="593343"/>
                </a:lnTo>
                <a:lnTo>
                  <a:pt x="0" y="938783"/>
                </a:lnTo>
                <a:lnTo>
                  <a:pt x="778763" y="345439"/>
                </a:lnTo>
                <a:lnTo>
                  <a:pt x="778763" y="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8" name="object 13">
            <a:extLst>
              <a:ext uri="{FF2B5EF4-FFF2-40B4-BE49-F238E27FC236}">
                <a16:creationId xmlns:a16="http://schemas.microsoft.com/office/drawing/2014/main" id="{E5CE242A-CD6F-B6AA-8CF8-3F65AA839201}"/>
              </a:ext>
            </a:extLst>
          </p:cNvPr>
          <p:cNvSpPr/>
          <p:nvPr/>
        </p:nvSpPr>
        <p:spPr>
          <a:xfrm>
            <a:off x="659898" y="4205582"/>
            <a:ext cx="1858010" cy="1065530"/>
          </a:xfrm>
          <a:custGeom>
            <a:avLst/>
            <a:gdLst/>
            <a:ahLst/>
            <a:cxnLst/>
            <a:rect l="l" t="t" r="r" b="b"/>
            <a:pathLst>
              <a:path w="1858009" h="1065530">
                <a:moveTo>
                  <a:pt x="0" y="1065276"/>
                </a:moveTo>
                <a:lnTo>
                  <a:pt x="1857755" y="1065276"/>
                </a:lnTo>
                <a:lnTo>
                  <a:pt x="1857755" y="0"/>
                </a:lnTo>
                <a:lnTo>
                  <a:pt x="0" y="0"/>
                </a:lnTo>
                <a:lnTo>
                  <a:pt x="0" y="1065276"/>
                </a:lnTo>
                <a:close/>
              </a:path>
            </a:pathLst>
          </a:custGeom>
          <a:solidFill>
            <a:srgbClr val="7E7E7E">
              <a:alpha val="3607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9" name="object 18">
            <a:extLst>
              <a:ext uri="{FF2B5EF4-FFF2-40B4-BE49-F238E27FC236}">
                <a16:creationId xmlns:a16="http://schemas.microsoft.com/office/drawing/2014/main" id="{E00C02E3-A945-AC3C-8DDF-4BF7E88C3196}"/>
              </a:ext>
            </a:extLst>
          </p:cNvPr>
          <p:cNvSpPr/>
          <p:nvPr/>
        </p:nvSpPr>
        <p:spPr>
          <a:xfrm>
            <a:off x="458730" y="5106266"/>
            <a:ext cx="544195" cy="342900"/>
          </a:xfrm>
          <a:custGeom>
            <a:avLst/>
            <a:gdLst/>
            <a:ahLst/>
            <a:cxnLst/>
            <a:rect l="l" t="t" r="r" b="b"/>
            <a:pathLst>
              <a:path w="544195" h="342900">
                <a:moveTo>
                  <a:pt x="0" y="342900"/>
                </a:moveTo>
                <a:lnTo>
                  <a:pt x="544068" y="342900"/>
                </a:lnTo>
                <a:lnTo>
                  <a:pt x="544068" y="0"/>
                </a:lnTo>
                <a:lnTo>
                  <a:pt x="0" y="0"/>
                </a:lnTo>
                <a:lnTo>
                  <a:pt x="0" y="34290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0" name="object 19">
            <a:extLst>
              <a:ext uri="{FF2B5EF4-FFF2-40B4-BE49-F238E27FC236}">
                <a16:creationId xmlns:a16="http://schemas.microsoft.com/office/drawing/2014/main" id="{0ED35790-2683-BB1F-331A-34862F355D64}"/>
              </a:ext>
            </a:extLst>
          </p:cNvPr>
          <p:cNvSpPr/>
          <p:nvPr/>
        </p:nvSpPr>
        <p:spPr>
          <a:xfrm>
            <a:off x="458730" y="5106266"/>
            <a:ext cx="544195" cy="342900"/>
          </a:xfrm>
          <a:custGeom>
            <a:avLst/>
            <a:gdLst/>
            <a:ahLst/>
            <a:cxnLst/>
            <a:rect l="l" t="t" r="r" b="b"/>
            <a:pathLst>
              <a:path w="544195" h="342900">
                <a:moveTo>
                  <a:pt x="0" y="342900"/>
                </a:moveTo>
                <a:lnTo>
                  <a:pt x="544068" y="342900"/>
                </a:lnTo>
                <a:lnTo>
                  <a:pt x="544068" y="0"/>
                </a:lnTo>
                <a:lnTo>
                  <a:pt x="0" y="0"/>
                </a:lnTo>
                <a:lnTo>
                  <a:pt x="0" y="34290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1" name="object 20">
            <a:extLst>
              <a:ext uri="{FF2B5EF4-FFF2-40B4-BE49-F238E27FC236}">
                <a16:creationId xmlns:a16="http://schemas.microsoft.com/office/drawing/2014/main" id="{C74C0B99-9868-5B85-03B4-95E6CF78D9A3}"/>
              </a:ext>
            </a:extLst>
          </p:cNvPr>
          <p:cNvSpPr/>
          <p:nvPr/>
        </p:nvSpPr>
        <p:spPr>
          <a:xfrm>
            <a:off x="458730" y="4511906"/>
            <a:ext cx="1324610" cy="594360"/>
          </a:xfrm>
          <a:custGeom>
            <a:avLst/>
            <a:gdLst/>
            <a:ahLst/>
            <a:cxnLst/>
            <a:rect l="l" t="t" r="r" b="b"/>
            <a:pathLst>
              <a:path w="1324610" h="594360">
                <a:moveTo>
                  <a:pt x="1324356" y="0"/>
                </a:moveTo>
                <a:lnTo>
                  <a:pt x="769493" y="0"/>
                </a:lnTo>
                <a:lnTo>
                  <a:pt x="0" y="594360"/>
                </a:lnTo>
                <a:lnTo>
                  <a:pt x="554863" y="594360"/>
                </a:lnTo>
                <a:lnTo>
                  <a:pt x="1324356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2" name="object 21">
            <a:extLst>
              <a:ext uri="{FF2B5EF4-FFF2-40B4-BE49-F238E27FC236}">
                <a16:creationId xmlns:a16="http://schemas.microsoft.com/office/drawing/2014/main" id="{0D0A668E-1248-C952-0D69-9AC115F5AEBD}"/>
              </a:ext>
            </a:extLst>
          </p:cNvPr>
          <p:cNvSpPr/>
          <p:nvPr/>
        </p:nvSpPr>
        <p:spPr>
          <a:xfrm>
            <a:off x="458730" y="4511906"/>
            <a:ext cx="1324610" cy="594360"/>
          </a:xfrm>
          <a:custGeom>
            <a:avLst/>
            <a:gdLst/>
            <a:ahLst/>
            <a:cxnLst/>
            <a:rect l="l" t="t" r="r" b="b"/>
            <a:pathLst>
              <a:path w="1324610" h="594360">
                <a:moveTo>
                  <a:pt x="0" y="594360"/>
                </a:moveTo>
                <a:lnTo>
                  <a:pt x="769493" y="0"/>
                </a:lnTo>
                <a:lnTo>
                  <a:pt x="1324356" y="0"/>
                </a:lnTo>
                <a:lnTo>
                  <a:pt x="554863" y="594360"/>
                </a:lnTo>
                <a:lnTo>
                  <a:pt x="0" y="59436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3" name="object 22">
            <a:extLst>
              <a:ext uri="{FF2B5EF4-FFF2-40B4-BE49-F238E27FC236}">
                <a16:creationId xmlns:a16="http://schemas.microsoft.com/office/drawing/2014/main" id="{9D87B857-066A-6AC9-C60A-5A69ADC38AAB}"/>
              </a:ext>
            </a:extLst>
          </p:cNvPr>
          <p:cNvSpPr/>
          <p:nvPr/>
        </p:nvSpPr>
        <p:spPr>
          <a:xfrm>
            <a:off x="1002798" y="4511906"/>
            <a:ext cx="780415" cy="937260"/>
          </a:xfrm>
          <a:custGeom>
            <a:avLst/>
            <a:gdLst/>
            <a:ahLst/>
            <a:cxnLst/>
            <a:rect l="l" t="t" r="r" b="b"/>
            <a:pathLst>
              <a:path w="780414" h="937260">
                <a:moveTo>
                  <a:pt x="780288" y="0"/>
                </a:moveTo>
                <a:lnTo>
                  <a:pt x="0" y="594613"/>
                </a:lnTo>
                <a:lnTo>
                  <a:pt x="0" y="937260"/>
                </a:lnTo>
                <a:lnTo>
                  <a:pt x="780288" y="342645"/>
                </a:lnTo>
                <a:lnTo>
                  <a:pt x="780288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4" name="object 23">
            <a:extLst>
              <a:ext uri="{FF2B5EF4-FFF2-40B4-BE49-F238E27FC236}">
                <a16:creationId xmlns:a16="http://schemas.microsoft.com/office/drawing/2014/main" id="{218D47D4-6432-730D-48B9-7A6C6E31E473}"/>
              </a:ext>
            </a:extLst>
          </p:cNvPr>
          <p:cNvSpPr/>
          <p:nvPr/>
        </p:nvSpPr>
        <p:spPr>
          <a:xfrm>
            <a:off x="1002798" y="4511906"/>
            <a:ext cx="780415" cy="937260"/>
          </a:xfrm>
          <a:custGeom>
            <a:avLst/>
            <a:gdLst/>
            <a:ahLst/>
            <a:cxnLst/>
            <a:rect l="l" t="t" r="r" b="b"/>
            <a:pathLst>
              <a:path w="780414" h="937260">
                <a:moveTo>
                  <a:pt x="780288" y="0"/>
                </a:moveTo>
                <a:lnTo>
                  <a:pt x="0" y="594613"/>
                </a:lnTo>
                <a:lnTo>
                  <a:pt x="0" y="937260"/>
                </a:lnTo>
                <a:lnTo>
                  <a:pt x="780288" y="342645"/>
                </a:lnTo>
                <a:lnTo>
                  <a:pt x="780288" y="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5" name="object 33">
            <a:extLst>
              <a:ext uri="{FF2B5EF4-FFF2-40B4-BE49-F238E27FC236}">
                <a16:creationId xmlns:a16="http://schemas.microsoft.com/office/drawing/2014/main" id="{1ADEEC13-CD1C-B10C-519D-C80EDB6B6995}"/>
              </a:ext>
            </a:extLst>
          </p:cNvPr>
          <p:cNvSpPr txBox="1"/>
          <p:nvPr/>
        </p:nvSpPr>
        <p:spPr>
          <a:xfrm>
            <a:off x="1438790" y="5254855"/>
            <a:ext cx="106616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Calibri"/>
                <a:cs typeface="Calibri"/>
              </a:rPr>
              <a:t>XY</a:t>
            </a:r>
            <a:r>
              <a:rPr sz="1200" b="1" spc="-35" dirty="0">
                <a:latin typeface="Calibri"/>
                <a:cs typeface="Calibri"/>
              </a:rPr>
              <a:t> </a:t>
            </a:r>
            <a:r>
              <a:rPr sz="1200" b="1" spc="-5" dirty="0">
                <a:latin typeface="Calibri"/>
                <a:cs typeface="Calibri"/>
              </a:rPr>
              <a:t>Cross-section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3213753" y="3715837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4058049" y="4276669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3402119" y="4503822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4295793" y="4066357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4815731" y="3825642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4295793" y="4276669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6294976" y="4631165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3" name="Flecha: a la derecha 102">
            <a:extLst>
              <a:ext uri="{FF2B5EF4-FFF2-40B4-BE49-F238E27FC236}">
                <a16:creationId xmlns:a16="http://schemas.microsoft.com/office/drawing/2014/main" id="{9104F8E7-45F4-CD32-78F2-E3303B105AF2}"/>
              </a:ext>
            </a:extLst>
          </p:cNvPr>
          <p:cNvSpPr/>
          <p:nvPr/>
        </p:nvSpPr>
        <p:spPr>
          <a:xfrm>
            <a:off x="2652837" y="4587205"/>
            <a:ext cx="390281" cy="177451"/>
          </a:xfrm>
          <a:prstGeom prst="rightArrow">
            <a:avLst/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749273" y="3715837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831313" y="4066357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9351251" y="3825642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831313" y="4276669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830496" y="4631165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749273" y="4983731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933783" y="4287133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591080" y="4982122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709867" y="5180039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9064251" y="4282997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664364" y="5549983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5280887" y="5549983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AA9E72FF-B948-6B7A-8909-97C6BE95D6F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INSTRUCTOR: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Present Python and </a:t>
            </a:r>
            <a:r>
              <a:rPr lang="en-US" sz="2000" dirty="0" err="1"/>
              <a:t>GDSFactory</a:t>
            </a:r>
            <a:r>
              <a:rPr lang="en-US" sz="2000" dirty="0"/>
              <a:t>: materials, output, results.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Explain how to run a simulation for a particular cross-section.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Showcase how to change between shallow and deep waveguide.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how to change the wavelength and width for the waveguide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the outputs.</a:t>
            </a:r>
          </a:p>
          <a:p>
            <a:pPr marL="0" indent="0" algn="just">
              <a:buNone/>
            </a:pPr>
            <a:r>
              <a:rPr lang="en-US" sz="2000" b="1" dirty="0"/>
              <a:t>ALL EXAMPLE #1: </a:t>
            </a:r>
            <a:r>
              <a:rPr lang="en-US" sz="2000" dirty="0"/>
              <a:t>waveguide width 1.2 µm, deep </a:t>
            </a:r>
            <a:r>
              <a:rPr lang="en-US" sz="2000" dirty="0" err="1"/>
              <a:t>wvg</a:t>
            </a:r>
            <a:r>
              <a:rPr lang="en-US" sz="2000" dirty="0"/>
              <a:t>, wavelength start and end same 1.55 µm </a:t>
            </a:r>
            <a:r>
              <a:rPr lang="en-US" sz="2000" dirty="0">
                <a:sym typeface="Wingdings" pitchFamily="2" charset="2"/>
              </a:rPr>
              <a:t> all ”Run”</a:t>
            </a:r>
            <a:endParaRPr lang="en-US" sz="2000" dirty="0"/>
          </a:p>
          <a:p>
            <a:pPr marL="0" indent="0" algn="just">
              <a:buNone/>
            </a:pPr>
            <a:r>
              <a:rPr lang="en-US" sz="2000" b="1" dirty="0"/>
              <a:t>ALL: </a:t>
            </a:r>
            <a:r>
              <a:rPr lang="en-US" sz="2000" dirty="0"/>
              <a:t>Follow</a:t>
            </a:r>
            <a:r>
              <a:rPr lang="en-US" sz="2000" b="1" dirty="0"/>
              <a:t> </a:t>
            </a:r>
            <a:r>
              <a:rPr lang="en-US" sz="2000" dirty="0"/>
              <a:t>instructor, that will show how to 1) plot mode, 2) explore the results (neff …)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of different modes,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comparison between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different polarizations…)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0.02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860334"/>
            <a:ext cx="11199971" cy="2123658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wavelength, comparison between different waveguide cross-sections 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Izquierda: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refracción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cladding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mantiene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aproximadamente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constante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n(SiO2)=1.45775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cuatro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calculados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mantienen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n_eff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encima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valor,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través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shallow.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son,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orden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creciente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: TE (Mode 0), TM (Mode 1),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híbrido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(Mode 2), TE (Mode 3).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tendría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sentido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calcular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mayor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número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solución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todavía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hay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margen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hasta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línea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discontinua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negra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Derecha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solo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primeros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calculados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mantienen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n_eff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encima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refracción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cladding,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solo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través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deep.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son: TE (Mode 0) y TM (Mode 1).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8F19863-7091-B8CA-F848-DBEA5CEEA027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C4E7A47-20E2-3C27-D841-5A665642F6E2}"/>
              </a:ext>
            </a:extLst>
          </p:cNvPr>
          <p:cNvSpPr txBox="1"/>
          <p:nvPr/>
        </p:nvSpPr>
        <p:spPr>
          <a:xfrm>
            <a:off x="2226657" y="2671278"/>
            <a:ext cx="209813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Plot </a:t>
            </a:r>
            <a:r>
              <a:rPr lang="en-US" dirty="0" err="1"/>
              <a:t>n_eff</a:t>
            </a:r>
            <a:r>
              <a:rPr lang="en-US" dirty="0"/>
              <a:t> vs lambda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4768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D9C65D4-5494-F5CE-1094-CB0A32C33876}"/>
              </a:ext>
            </a:extLst>
          </p:cNvPr>
          <p:cNvSpPr txBox="1"/>
          <p:nvPr/>
        </p:nvSpPr>
        <p:spPr>
          <a:xfrm>
            <a:off x="8094057" y="2671278"/>
            <a:ext cx="209813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Plot </a:t>
            </a:r>
            <a:r>
              <a:rPr lang="en-US" dirty="0" err="1"/>
              <a:t>n_eff</a:t>
            </a:r>
            <a:r>
              <a:rPr lang="en-US" dirty="0"/>
              <a:t> vs lambda</a:t>
            </a:r>
          </a:p>
          <a:p>
            <a:pPr algn="ctr"/>
            <a:endParaRPr lang="en-US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BD4C233-B5D9-B6AA-93A8-CF2F130CFF9C}"/>
              </a:ext>
            </a:extLst>
          </p:cNvPr>
          <p:cNvSpPr txBox="1"/>
          <p:nvPr/>
        </p:nvSpPr>
        <p:spPr>
          <a:xfrm>
            <a:off x="642989" y="4402885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slab </a:t>
            </a:r>
            <a:r>
              <a:rPr lang="en-US" dirty="0"/>
              <a:t>= 150nm</a:t>
            </a:r>
            <a:endParaRPr lang="es-ES" dirty="0"/>
          </a:p>
        </p:txBody>
      </p:sp>
      <p:pic>
        <p:nvPicPr>
          <p:cNvPr id="10" name="Picture 9" descr="A graph of a number of waves&#10;&#10;AI-generated content may be incorrect.">
            <a:extLst>
              <a:ext uri="{FF2B5EF4-FFF2-40B4-BE49-F238E27FC236}">
                <a16:creationId xmlns:a16="http://schemas.microsoft.com/office/drawing/2014/main" id="{17611C77-D6E2-676B-E5C3-37303FC860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163" y="1443179"/>
            <a:ext cx="5255316" cy="3065601"/>
          </a:xfrm>
          <a:prstGeom prst="rect">
            <a:avLst/>
          </a:prstGeom>
        </p:spPr>
      </p:pic>
      <p:pic>
        <p:nvPicPr>
          <p:cNvPr id="11" name="Picture 10" descr="A graph of a wave guide&#10;&#10;AI-generated content may be incorrect.">
            <a:extLst>
              <a:ext uri="{FF2B5EF4-FFF2-40B4-BE49-F238E27FC236}">
                <a16:creationId xmlns:a16="http://schemas.microsoft.com/office/drawing/2014/main" id="{3B9E150E-21CC-61CE-6322-CB9F9C6564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" y="1503068"/>
            <a:ext cx="5105400" cy="2978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539</TotalTime>
  <Words>466</Words>
  <Application>Microsoft Office PowerPoint</Application>
  <PresentationFormat>Widescreen</PresentationFormat>
  <Paragraphs>70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</vt:lpstr>
      <vt:lpstr>Arial</vt:lpstr>
      <vt:lpstr>Calibri</vt:lpstr>
      <vt:lpstr>Lucida Sans</vt:lpstr>
      <vt:lpstr>Times New Roman</vt:lpstr>
      <vt:lpstr>Wingdings</vt:lpstr>
      <vt:lpstr>Office Theme</vt:lpstr>
      <vt:lpstr>PowerPoint Presentation</vt:lpstr>
      <vt:lpstr>Instructions General</vt:lpstr>
      <vt:lpstr>Learning outcome #1 – Effective index of a waveguide </vt:lpstr>
      <vt:lpstr>Learning outcome #2 – Wavelength behavior Wavelength 1.5-1.6 µm (step 0.02 µm) – width 1.2 µm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David Garcia Santes</cp:lastModifiedBy>
  <cp:revision>11</cp:revision>
  <dcterms:created xsi:type="dcterms:W3CDTF">2025-01-27T02:46:57Z</dcterms:created>
  <dcterms:modified xsi:type="dcterms:W3CDTF">2026-02-09T19:51:36Z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