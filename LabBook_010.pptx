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89" r:id="rId3"/>
    <p:sldId id="290" r:id="rId4"/>
    <p:sldId id="291" r:id="rId5"/>
    <p:sldId id="288" r:id="rId6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90BF8D-8585-4F2B-A5CB-D2E35DA39BA0}" v="3" dt="2026-02-09T16:36:28.84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79" d="100"/>
          <a:sy n="79" d="100"/>
        </p:scale>
        <p:origin x="1210" y="4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Garcia Santes" userId="135ceecb-b000-49fa-8308-b8645db89666" providerId="ADAL" clId="{0639B51C-9325-4622-8C1B-F9D29A778947}"/>
    <pc:docChg chg="custSel modSld">
      <pc:chgData name="David Garcia Santes" userId="135ceecb-b000-49fa-8308-b8645db89666" providerId="ADAL" clId="{0639B51C-9325-4622-8C1B-F9D29A778947}" dt="2026-02-09T16:37:15.461" v="428" actId="20577"/>
      <pc:docMkLst>
        <pc:docMk/>
      </pc:docMkLst>
      <pc:sldChg chg="modSp mod">
        <pc:chgData name="David Garcia Santes" userId="135ceecb-b000-49fa-8308-b8645db89666" providerId="ADAL" clId="{0639B51C-9325-4622-8C1B-F9D29A778947}" dt="2026-02-09T16:37:15.461" v="428" actId="20577"/>
        <pc:sldMkLst>
          <pc:docMk/>
          <pc:sldMk cId="3712356003" sldId="291"/>
        </pc:sldMkLst>
        <pc:spChg chg="mod">
          <ac:chgData name="David Garcia Santes" userId="135ceecb-b000-49fa-8308-b8645db89666" providerId="ADAL" clId="{0639B51C-9325-4622-8C1B-F9D29A778947}" dt="2026-02-09T16:37:15.461" v="428" actId="20577"/>
          <ac:spMkLst>
            <pc:docMk/>
            <pc:sldMk cId="3712356003" sldId="291"/>
            <ac:spMk id="2" creationId="{CA5F0FDF-2A95-453B-4ECA-AEB637FF2694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0.1. MODESOLVER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0.1. </a:t>
            </a:r>
            <a:r>
              <a:rPr lang="es-ES" sz="3200" b="1" dirty="0" err="1">
                <a:latin typeface="Lucida Sans"/>
                <a:cs typeface="Lucida Sans"/>
              </a:rPr>
              <a:t>ModeSolver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010_MODESOLVER_Student.ipynb </a:t>
            </a:r>
          </a:p>
          <a:p>
            <a:pPr algn="just"/>
            <a:r>
              <a:rPr lang="en-US" b="1" kern="0" dirty="0">
                <a:solidFill>
                  <a:sysClr val="windowText" lastClr="000000"/>
                </a:solidFill>
              </a:rPr>
              <a:t>INSTRUCTIONS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/>
              <a:t>We are going to work with different </a:t>
            </a:r>
            <a:r>
              <a:rPr lang="en-US" b="1" i="1" dirty="0"/>
              <a:t>Cross-Sections. </a:t>
            </a:r>
            <a:r>
              <a:rPr lang="en-US" dirty="0"/>
              <a:t>In general, we will need: </a:t>
            </a:r>
            <a:r>
              <a:rPr lang="en-US" b="1" i="1" dirty="0"/>
              <a:t>Materials</a:t>
            </a:r>
            <a:r>
              <a:rPr lang="en-US" dirty="0"/>
              <a:t> definitions and the </a:t>
            </a:r>
            <a:r>
              <a:rPr lang="en-US" b="1" dirty="0"/>
              <a:t>Geometrical</a:t>
            </a:r>
            <a:r>
              <a:rPr lang="en-US" dirty="0"/>
              <a:t> parameters of each Cross-section</a:t>
            </a:r>
            <a:r>
              <a:rPr lang="en-US" b="1" i="1" dirty="0"/>
              <a:t>.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5" name="object 7">
            <a:extLst>
              <a:ext uri="{FF2B5EF4-FFF2-40B4-BE49-F238E27FC236}">
                <a16:creationId xmlns:a16="http://schemas.microsoft.com/office/drawing/2014/main" id="{B99085AB-5BCA-5571-FA65-E3617707DBFA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17590B25-6ABE-9620-2C63-B4856DDBCE5D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ln w="12191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9">
            <a:extLst>
              <a:ext uri="{FF2B5EF4-FFF2-40B4-BE49-F238E27FC236}">
                <a16:creationId xmlns:a16="http://schemas.microsoft.com/office/drawing/2014/main" id="{854026DA-C7BC-391A-30F9-BF8D7187210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1322832" y="0"/>
                </a:moveTo>
                <a:lnTo>
                  <a:pt x="769493" y="0"/>
                </a:lnTo>
                <a:lnTo>
                  <a:pt x="0" y="594359"/>
                </a:lnTo>
                <a:lnTo>
                  <a:pt x="553338" y="594359"/>
                </a:lnTo>
                <a:lnTo>
                  <a:pt x="1322832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object 10">
            <a:extLst>
              <a:ext uri="{FF2B5EF4-FFF2-40B4-BE49-F238E27FC236}">
                <a16:creationId xmlns:a16="http://schemas.microsoft.com/office/drawing/2014/main" id="{68F18FA1-D512-5553-8E16-C81F17B1FD4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0" y="594359"/>
                </a:moveTo>
                <a:lnTo>
                  <a:pt x="769493" y="0"/>
                </a:lnTo>
                <a:lnTo>
                  <a:pt x="1322832" y="0"/>
                </a:lnTo>
                <a:lnTo>
                  <a:pt x="553338" y="594359"/>
                </a:lnTo>
                <a:lnTo>
                  <a:pt x="0" y="594359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11">
            <a:extLst>
              <a:ext uri="{FF2B5EF4-FFF2-40B4-BE49-F238E27FC236}">
                <a16:creationId xmlns:a16="http://schemas.microsoft.com/office/drawing/2014/main" id="{B6F403B3-198D-766C-7FF5-06096D396DAF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12">
            <a:extLst>
              <a:ext uri="{FF2B5EF4-FFF2-40B4-BE49-F238E27FC236}">
                <a16:creationId xmlns:a16="http://schemas.microsoft.com/office/drawing/2014/main" id="{B4F33324-81A2-6D30-47DD-7A67FD038073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object 13">
            <a:extLst>
              <a:ext uri="{FF2B5EF4-FFF2-40B4-BE49-F238E27FC236}">
                <a16:creationId xmlns:a16="http://schemas.microsoft.com/office/drawing/2014/main" id="{E5CE242A-CD6F-B6AA-8CF8-3F65AA839201}"/>
              </a:ext>
            </a:extLst>
          </p:cNvPr>
          <p:cNvSpPr/>
          <p:nvPr/>
        </p:nvSpPr>
        <p:spPr>
          <a:xfrm>
            <a:off x="659898" y="4205582"/>
            <a:ext cx="1858010" cy="1065530"/>
          </a:xfrm>
          <a:custGeom>
            <a:avLst/>
            <a:gdLst/>
            <a:ahLst/>
            <a:cxnLst/>
            <a:rect l="l" t="t" r="r" b="b"/>
            <a:pathLst>
              <a:path w="1858009" h="1065530">
                <a:moveTo>
                  <a:pt x="0" y="1065276"/>
                </a:moveTo>
                <a:lnTo>
                  <a:pt x="1857755" y="1065276"/>
                </a:lnTo>
                <a:lnTo>
                  <a:pt x="1857755" y="0"/>
                </a:lnTo>
                <a:lnTo>
                  <a:pt x="0" y="0"/>
                </a:lnTo>
                <a:lnTo>
                  <a:pt x="0" y="1065276"/>
                </a:lnTo>
                <a:close/>
              </a:path>
            </a:pathLst>
          </a:custGeom>
          <a:solidFill>
            <a:srgbClr val="7E7E7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object 18">
            <a:extLst>
              <a:ext uri="{FF2B5EF4-FFF2-40B4-BE49-F238E27FC236}">
                <a16:creationId xmlns:a16="http://schemas.microsoft.com/office/drawing/2014/main" id="{E00C02E3-A945-AC3C-8DDF-4BF7E88C3196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object 19">
            <a:extLst>
              <a:ext uri="{FF2B5EF4-FFF2-40B4-BE49-F238E27FC236}">
                <a16:creationId xmlns:a16="http://schemas.microsoft.com/office/drawing/2014/main" id="{0ED35790-2683-BB1F-331A-34862F355D64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object 20">
            <a:extLst>
              <a:ext uri="{FF2B5EF4-FFF2-40B4-BE49-F238E27FC236}">
                <a16:creationId xmlns:a16="http://schemas.microsoft.com/office/drawing/2014/main" id="{C74C0B99-9868-5B85-03B4-95E6CF78D9A3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1324356" y="0"/>
                </a:moveTo>
                <a:lnTo>
                  <a:pt x="769493" y="0"/>
                </a:lnTo>
                <a:lnTo>
                  <a:pt x="0" y="594360"/>
                </a:lnTo>
                <a:lnTo>
                  <a:pt x="554863" y="594360"/>
                </a:lnTo>
                <a:lnTo>
                  <a:pt x="1324356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object 21">
            <a:extLst>
              <a:ext uri="{FF2B5EF4-FFF2-40B4-BE49-F238E27FC236}">
                <a16:creationId xmlns:a16="http://schemas.microsoft.com/office/drawing/2014/main" id="{0D0A668E-1248-C952-0D69-9AC115F5AEBD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0" y="594360"/>
                </a:moveTo>
                <a:lnTo>
                  <a:pt x="769493" y="0"/>
                </a:lnTo>
                <a:lnTo>
                  <a:pt x="1324356" y="0"/>
                </a:lnTo>
                <a:lnTo>
                  <a:pt x="554863" y="594360"/>
                </a:lnTo>
                <a:lnTo>
                  <a:pt x="0" y="59436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object 22">
            <a:extLst>
              <a:ext uri="{FF2B5EF4-FFF2-40B4-BE49-F238E27FC236}">
                <a16:creationId xmlns:a16="http://schemas.microsoft.com/office/drawing/2014/main" id="{9D87B857-066A-6AC9-C60A-5A69ADC38AAB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object 23">
            <a:extLst>
              <a:ext uri="{FF2B5EF4-FFF2-40B4-BE49-F238E27FC236}">
                <a16:creationId xmlns:a16="http://schemas.microsoft.com/office/drawing/2014/main" id="{218D47D4-6432-730D-48B9-7A6C6E31E473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33">
            <a:extLst>
              <a:ext uri="{FF2B5EF4-FFF2-40B4-BE49-F238E27FC236}">
                <a16:creationId xmlns:a16="http://schemas.microsoft.com/office/drawing/2014/main" id="{1ADEEC13-CD1C-B10C-519D-C80EDB6B6995}"/>
              </a:ext>
            </a:extLst>
          </p:cNvPr>
          <p:cNvSpPr txBox="1"/>
          <p:nvPr/>
        </p:nvSpPr>
        <p:spPr>
          <a:xfrm>
            <a:off x="1438790" y="5254855"/>
            <a:ext cx="106616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Calibri"/>
                <a:cs typeface="Calibri"/>
              </a:rPr>
              <a:t>XY</a:t>
            </a:r>
            <a:r>
              <a:rPr sz="1200" b="1" spc="-35" dirty="0">
                <a:latin typeface="Calibri"/>
                <a:cs typeface="Calibri"/>
              </a:rPr>
              <a:t> </a:t>
            </a:r>
            <a:r>
              <a:rPr sz="1200" b="1" spc="-5" dirty="0">
                <a:latin typeface="Calibri"/>
                <a:cs typeface="Calibri"/>
              </a:rPr>
              <a:t>Cross-section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321375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4058049" y="4276669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3402119" y="4503822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429579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481573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429579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629497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3" name="Flecha: a la derecha 102">
            <a:extLst>
              <a:ext uri="{FF2B5EF4-FFF2-40B4-BE49-F238E27FC236}">
                <a16:creationId xmlns:a16="http://schemas.microsoft.com/office/drawing/2014/main" id="{9104F8E7-45F4-CD32-78F2-E3303B105AF2}"/>
              </a:ext>
            </a:extLst>
          </p:cNvPr>
          <p:cNvSpPr/>
          <p:nvPr/>
        </p:nvSpPr>
        <p:spPr>
          <a:xfrm>
            <a:off x="2652837" y="4587205"/>
            <a:ext cx="390281" cy="177451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74927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83131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935125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83131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83049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749273" y="4983731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933783" y="4287133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591080" y="4982122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709867" y="5180039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9064251" y="4282997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664364" y="5549983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5280887" y="5549983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0.02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212365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wavelength, comparison between different waveguide cross-sections 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Izquierda: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refracción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cladding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mantiene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aproximadamente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constante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n(SiO2)=1.45775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cuatro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mantienen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n_eff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encima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valor,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través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orden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creciente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 TE (Mode 0), TM (Mode 1),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híbrido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(Mode 2), TE (Mode 3).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tendría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sentido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número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solución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todavía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margen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hasta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línea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discontinua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negra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Derecha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mantienen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n_eff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encima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refracción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cladding,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través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deep.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son: TE (Mode 0) y TM (Mode 1).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4E7A47-20E2-3C27-D841-5A665642F6E2}"/>
              </a:ext>
            </a:extLst>
          </p:cNvPr>
          <p:cNvSpPr txBox="1"/>
          <p:nvPr/>
        </p:nvSpPr>
        <p:spPr>
          <a:xfrm>
            <a:off x="2226657" y="2671278"/>
            <a:ext cx="20981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Plot </a:t>
            </a:r>
            <a:r>
              <a:rPr lang="en-US" dirty="0" err="1"/>
              <a:t>n_eff</a:t>
            </a:r>
            <a:r>
              <a:rPr lang="en-US" dirty="0"/>
              <a:t> vs lambda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8094057" y="2671278"/>
            <a:ext cx="209813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Plot </a:t>
            </a:r>
            <a:r>
              <a:rPr lang="en-US" dirty="0" err="1"/>
              <a:t>n_eff</a:t>
            </a:r>
            <a:r>
              <a:rPr lang="en-US" dirty="0"/>
              <a:t> vs lambda</a:t>
            </a:r>
          </a:p>
          <a:p>
            <a:pPr algn="ctr"/>
            <a:endParaRPr lang="en-US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642989" y="4402885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slab </a:t>
            </a:r>
            <a:r>
              <a:rPr lang="en-US" dirty="0"/>
              <a:t>= 150nm</a:t>
            </a:r>
            <a:endParaRPr lang="es-ES" dirty="0"/>
          </a:p>
        </p:txBody>
      </p:sp>
      <p:pic>
        <p:nvPicPr>
          <p:cNvPr id="10" name="Picture 9" descr="A graph of a number of waves&#10;&#10;AI-generated content may be incorrect.">
            <a:extLst>
              <a:ext uri="{FF2B5EF4-FFF2-40B4-BE49-F238E27FC236}">
                <a16:creationId xmlns:a16="http://schemas.microsoft.com/office/drawing/2014/main" id="{17611C77-D6E2-676B-E5C3-37303FC86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163" y="1443179"/>
            <a:ext cx="5255316" cy="3065601"/>
          </a:xfrm>
          <a:prstGeom prst="rect">
            <a:avLst/>
          </a:prstGeom>
        </p:spPr>
      </p:pic>
      <p:pic>
        <p:nvPicPr>
          <p:cNvPr id="11" name="Picture 10" descr="A graph of a wave guide&#10;&#10;AI-generated content may be incorrect.">
            <a:extLst>
              <a:ext uri="{FF2B5EF4-FFF2-40B4-BE49-F238E27FC236}">
                <a16:creationId xmlns:a16="http://schemas.microsoft.com/office/drawing/2014/main" id="{3B9E150E-21CC-61CE-6322-CB9F9C6564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" y="1503068"/>
            <a:ext cx="5105400" cy="297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540</TotalTime>
  <Words>466</Words>
  <Application>Microsoft Office PowerPoint</Application>
  <PresentationFormat>Widescreen</PresentationFormat>
  <Paragraphs>70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Arial</vt:lpstr>
      <vt:lpstr>Calibri</vt:lpstr>
      <vt:lpstr>Lucida Sans</vt:lpstr>
      <vt:lpstr>Times New Roman</vt:lpstr>
      <vt:lpstr>Wingdings</vt:lpstr>
      <vt:lpstr>Office Theme</vt:lpstr>
      <vt:lpstr>PowerPoint Presentation</vt:lpstr>
      <vt:lpstr>Instructions General</vt:lpstr>
      <vt:lpstr>Learning outcome #1 – Effective index of a waveguide </vt:lpstr>
      <vt:lpstr>Learning outcome #2 – Wavelength behavior Wavelength 1.5-1.6 µm (step 0.02 µm) – width 1.2 µm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David Garcia Santes</cp:lastModifiedBy>
  <cp:revision>11</cp:revision>
  <dcterms:created xsi:type="dcterms:W3CDTF">2025-01-27T02:46:57Z</dcterms:created>
  <dcterms:modified xsi:type="dcterms:W3CDTF">2026-02-09T19:52:49Z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